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583680" y="45720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48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ANALYST PORTFOLIO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Cart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Evaluation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2697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Risk Assessment Workflow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200400"/>
            <a:ext cx="32004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3429000"/>
            <a:ext cx="2651760" cy="77724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37560" y="3429000"/>
            <a:ext cx="2651760" cy="77724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RISK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3756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72200" y="3429000"/>
            <a:ext cx="2651760" cy="77724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7220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Junior GRC Analyst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3268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868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PROTECTING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22960" y="1188720"/>
            <a:ext cx="4206240" cy="36576"/>
          </a:xfrm>
          <a:prstGeom prst="rect">
            <a:avLst/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2801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Workstations on Wheels (WOWs) — mobile nursing computers with live Electronic Health Record (EHR) sessions open in hospital hallways.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0428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22960" y="2560320"/>
            <a:ext cx="4206240" cy="36576"/>
          </a:xfrm>
          <a:prstGeom prst="rect">
            <a:avLst/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26517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leaves a WOW cart unlocked during an emergency. An unauthorized visitor walks up and reads private patient data (ePHI).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7588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822960" y="3931920"/>
            <a:ext cx="4206240" cy="36576"/>
          </a:xfrm>
          <a:prstGeom prst="rect">
            <a:avLst/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22960" y="40233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ePHI violates HIPAA law. The hospital faces large fines, lawsuits, and serious loss of patient trust.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0" y="822960"/>
            <a:ext cx="3291840" cy="4023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486400" y="914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623560" y="1417320"/>
            <a:ext cx="3017520" cy="457200"/>
          </a:xfrm>
          <a:prstGeom prst="rect">
            <a:avLst/>
          </a:prstGeom>
          <a:solidFill>
            <a:srgbClr val="0D7377">
              <a:alpha val="2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66928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04088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R-101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623560" y="1984248"/>
            <a:ext cx="3017520" cy="457200"/>
          </a:xfrm>
          <a:prstGeom prst="rect">
            <a:avLst/>
          </a:prstGeom>
          <a:solidFill>
            <a:srgbClr val="0D7377">
              <a:alpha val="2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669280" y="1984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040880" y="1984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Carts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623560" y="2551176"/>
            <a:ext cx="3017520" cy="457200"/>
          </a:xfrm>
          <a:prstGeom prst="rect">
            <a:avLst/>
          </a:prstGeom>
          <a:solidFill>
            <a:srgbClr val="0D7377">
              <a:alpha val="2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669280" y="2551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040880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623560" y="3118104"/>
            <a:ext cx="3017520" cy="457200"/>
          </a:xfrm>
          <a:prstGeom prst="rect">
            <a:avLst/>
          </a:prstGeom>
          <a:solidFill>
            <a:srgbClr val="0D7377">
              <a:alpha val="2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669280" y="3118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Risk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040880" y="31181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623560" y="3685032"/>
            <a:ext cx="3017520" cy="457200"/>
          </a:xfrm>
          <a:prstGeom prst="rect">
            <a:avLst/>
          </a:prstGeom>
          <a:solidFill>
            <a:srgbClr val="0D7377">
              <a:alpha val="2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669280" y="3685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Risk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040880" y="36850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RISK ASSESSMENT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GRC risk assessment follows the same five steps — like a recipe, always in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627632" cy="3474720"/>
          </a:xfrm>
          <a:prstGeom prst="rect">
            <a:avLst/>
          </a:prstGeom>
          <a:solidFill>
            <a:srgbClr val="0D5C75"/>
          </a:solidFill>
          <a:ln w="63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37160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5603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Asset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309067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 needs protecting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7472" y="3584448"/>
            <a:ext cx="1481328" cy="804672"/>
          </a:xfrm>
          <a:prstGeom prst="rect">
            <a:avLst/>
          </a:prstGeom>
          <a:solidFill>
            <a:srgbClr val="0D7377">
              <a:alpha val="4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584448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carts with live EHR sessions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920240" y="2907792"/>
            <a:ext cx="7315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11680" y="1234440"/>
            <a:ext cx="1627632" cy="3474720"/>
          </a:xfrm>
          <a:prstGeom prst="rect">
            <a:avLst/>
          </a:prstGeom>
          <a:solidFill>
            <a:srgbClr val="0A4A60"/>
          </a:solidFill>
          <a:ln w="63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96896" y="137160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9689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9659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57400" y="25603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Threat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057400" y="309067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could go wrong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084832" y="3584448"/>
            <a:ext cx="1481328" cy="804672"/>
          </a:xfrm>
          <a:prstGeom prst="rect">
            <a:avLst/>
          </a:prstGeom>
          <a:solidFill>
            <a:srgbClr val="0D7377">
              <a:alpha val="4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103120" y="3584448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leaves cart unlocked in hallway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657600" y="2907792"/>
            <a:ext cx="7315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49040" y="1234440"/>
            <a:ext cx="1627632" cy="3474720"/>
          </a:xfrm>
          <a:prstGeom prst="rect">
            <a:avLst/>
          </a:prstGeom>
          <a:solidFill>
            <a:srgbClr val="0D5C75"/>
          </a:solidFill>
          <a:ln w="63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34256" y="137160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3342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96596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794760" y="25603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Risk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794760" y="309067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Likelihood × Impact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822192" y="3584448"/>
            <a:ext cx="1481328" cy="804672"/>
          </a:xfrm>
          <a:prstGeom prst="rect">
            <a:avLst/>
          </a:prstGeom>
          <a:solidFill>
            <a:srgbClr val="0D7377">
              <a:alpha val="4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840480" y="3584448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4 = 16 → CRITICAL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394960" y="2907792"/>
            <a:ext cx="7315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486400" y="1234440"/>
            <a:ext cx="1627632" cy="3474720"/>
          </a:xfrm>
          <a:prstGeom prst="rect">
            <a:avLst/>
          </a:prstGeom>
          <a:solidFill>
            <a:srgbClr val="0A4A60"/>
          </a:solidFill>
          <a:ln w="63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071616" y="137160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07161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196596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532120" y="25603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Controls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532120" y="309067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fixes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5559552" y="3584448"/>
            <a:ext cx="1481328" cy="804672"/>
          </a:xfrm>
          <a:prstGeom prst="rect">
            <a:avLst/>
          </a:prstGeom>
          <a:solidFill>
            <a:srgbClr val="0D7377">
              <a:alpha val="4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577840" y="3584448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lock + privacy screen filter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132320" y="2907792"/>
            <a:ext cx="7315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223760" y="1234440"/>
            <a:ext cx="1627632" cy="3474720"/>
          </a:xfrm>
          <a:prstGeom prst="rect">
            <a:avLst/>
          </a:prstGeom>
          <a:solidFill>
            <a:srgbClr val="0D5C75"/>
          </a:solidFill>
          <a:ln w="63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7808976" y="137160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80897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1965960"/>
            <a:ext cx="457200" cy="45720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269480" y="25603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Treatment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7269480" y="309067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 in the Risk Register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7296912" y="3584448"/>
            <a:ext cx="1481328" cy="804672"/>
          </a:xfrm>
          <a:prstGeom prst="rect">
            <a:avLst/>
          </a:prstGeom>
          <a:solidFill>
            <a:srgbClr val="0D7377">
              <a:alpha val="40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315200" y="3584448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R-101: CRITICAL → LOW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EXPLAINED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 =  Likelihood  ×  Impact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0" y="1115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rated 1 to 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109728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19019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176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22402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frequently leave carts unattended during emergencies — this is a common real-world scenario on busy clinical floors.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46120"/>
            <a:ext cx="10972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3319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593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ePHI triggers HIPAA fines, potential lawsuits, patient data theft, and serious reputational damage to the hospital.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828800"/>
            <a:ext cx="3108960" cy="2971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22677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4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19456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999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5897880" y="3657600"/>
            <a:ext cx="265176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4370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15 = Critical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828800" y="685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= Likelihood × Impact. R-101 (highlighted in red) lands at 4×4 = 16.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786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Rare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441448" y="786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Unlikely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65576" y="786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Possible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489704" y="786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Likely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513832" y="786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Almost Certain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417320" y="5669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" y="12435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" y="19019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Major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" y="2560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" y="3218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" y="38770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Negligible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" y="10607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↓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17320" y="1078992"/>
            <a:ext cx="1024128" cy="658368"/>
          </a:xfrm>
          <a:prstGeom prst="rect">
            <a:avLst/>
          </a:prstGeom>
          <a:solidFill>
            <a:srgbClr val="4A4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1152144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E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441448" y="1078992"/>
            <a:ext cx="1024128" cy="658368"/>
          </a:xfrm>
          <a:prstGeom prst="rect">
            <a:avLst/>
          </a:prstGeom>
          <a:solidFill>
            <a:srgbClr val="5C32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1152144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465576" y="1078992"/>
            <a:ext cx="1024128" cy="658368"/>
          </a:xfrm>
          <a:prstGeom prst="rect">
            <a:avLst/>
          </a:prstGeom>
          <a:solidFill>
            <a:srgbClr val="5C1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5576" y="1152144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489704" y="1078992"/>
            <a:ext cx="1024128" cy="658368"/>
          </a:xfrm>
          <a:prstGeom prst="rect">
            <a:avLst/>
          </a:prstGeom>
          <a:solidFill>
            <a:srgbClr val="5C1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9704" y="1152144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513832" y="1078992"/>
            <a:ext cx="1024128" cy="658368"/>
          </a:xfrm>
          <a:prstGeom prst="rect">
            <a:avLst/>
          </a:prstGeom>
          <a:solidFill>
            <a:srgbClr val="5C1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1152144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417320" y="1737360"/>
            <a:ext cx="1024128" cy="658368"/>
          </a:xfrm>
          <a:prstGeom prst="rect">
            <a:avLst/>
          </a:prstGeom>
          <a:solidFill>
            <a:srgbClr val="104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181051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0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2441448" y="1737360"/>
            <a:ext cx="1024128" cy="658368"/>
          </a:xfrm>
          <a:prstGeom prst="rect">
            <a:avLst/>
          </a:prstGeom>
          <a:solidFill>
            <a:srgbClr val="4A4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41448" y="181051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E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465576" y="1737360"/>
            <a:ext cx="1024128" cy="658368"/>
          </a:xfrm>
          <a:prstGeom prst="rect">
            <a:avLst/>
          </a:prstGeom>
          <a:solidFill>
            <a:srgbClr val="5C32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65576" y="181051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489704" y="1737360"/>
            <a:ext cx="1024128" cy="658368"/>
          </a:xfrm>
          <a:prstGeom prst="rect">
            <a:avLst/>
          </a:prstGeom>
          <a:solidFill>
            <a:srgbClr val="8B0000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9704" y="181051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489704" y="2121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R-101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513832" y="1737360"/>
            <a:ext cx="1024128" cy="658368"/>
          </a:xfrm>
          <a:prstGeom prst="rect">
            <a:avLst/>
          </a:prstGeom>
          <a:solidFill>
            <a:srgbClr val="5C1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181051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1417320" y="2395728"/>
            <a:ext cx="1024128" cy="658368"/>
          </a:xfrm>
          <a:prstGeom prst="rect">
            <a:avLst/>
          </a:prstGeom>
          <a:solidFill>
            <a:srgbClr val="104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17320" y="246888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0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2441448" y="2395728"/>
            <a:ext cx="1024128" cy="658368"/>
          </a:xfrm>
          <a:prstGeom prst="rect">
            <a:avLst/>
          </a:prstGeom>
          <a:solidFill>
            <a:srgbClr val="4A4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41448" y="246888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E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3465576" y="2395728"/>
            <a:ext cx="1024128" cy="658368"/>
          </a:xfrm>
          <a:prstGeom prst="rect">
            <a:avLst/>
          </a:prstGeom>
          <a:solidFill>
            <a:srgbClr val="4A4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65576" y="246888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E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4489704" y="2395728"/>
            <a:ext cx="1024128" cy="658368"/>
          </a:xfrm>
          <a:prstGeom prst="rect">
            <a:avLst/>
          </a:prstGeom>
          <a:solidFill>
            <a:srgbClr val="5C32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9704" y="246888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513832" y="2395728"/>
            <a:ext cx="1024128" cy="658368"/>
          </a:xfrm>
          <a:prstGeom prst="rect">
            <a:avLst/>
          </a:prstGeom>
          <a:solidFill>
            <a:srgbClr val="5C1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246888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1417320" y="3054096"/>
            <a:ext cx="1024128" cy="658368"/>
          </a:xfrm>
          <a:prstGeom prst="rect">
            <a:avLst/>
          </a:prstGeom>
          <a:solidFill>
            <a:srgbClr val="104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17320" y="312724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0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2441448" y="3054096"/>
            <a:ext cx="1024128" cy="658368"/>
          </a:xfrm>
          <a:prstGeom prst="rect">
            <a:avLst/>
          </a:prstGeom>
          <a:solidFill>
            <a:srgbClr val="104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41448" y="312724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0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3465576" y="3054096"/>
            <a:ext cx="1024128" cy="658368"/>
          </a:xfrm>
          <a:prstGeom prst="rect">
            <a:avLst/>
          </a:prstGeom>
          <a:solidFill>
            <a:srgbClr val="4A4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65576" y="312724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E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4489704" y="3054096"/>
            <a:ext cx="1024128" cy="658368"/>
          </a:xfrm>
          <a:prstGeom prst="rect">
            <a:avLst/>
          </a:prstGeom>
          <a:solidFill>
            <a:srgbClr val="4A4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89704" y="312724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E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5513832" y="3054096"/>
            <a:ext cx="1024128" cy="658368"/>
          </a:xfrm>
          <a:prstGeom prst="rect">
            <a:avLst/>
          </a:prstGeom>
          <a:solidFill>
            <a:srgbClr val="5C32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13832" y="312724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417320" y="3712464"/>
            <a:ext cx="1024128" cy="658368"/>
          </a:xfrm>
          <a:prstGeom prst="rect">
            <a:avLst/>
          </a:prstGeom>
          <a:solidFill>
            <a:srgbClr val="104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17320" y="3785616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0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2441448" y="3712464"/>
            <a:ext cx="1024128" cy="658368"/>
          </a:xfrm>
          <a:prstGeom prst="rect">
            <a:avLst/>
          </a:prstGeom>
          <a:solidFill>
            <a:srgbClr val="104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41448" y="3785616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0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3465576" y="3712464"/>
            <a:ext cx="1024128" cy="658368"/>
          </a:xfrm>
          <a:prstGeom prst="rect">
            <a:avLst/>
          </a:prstGeom>
          <a:solidFill>
            <a:srgbClr val="104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65576" y="3785616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0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4489704" y="3712464"/>
            <a:ext cx="1024128" cy="658368"/>
          </a:xfrm>
          <a:prstGeom prst="rect">
            <a:avLst/>
          </a:prstGeom>
          <a:solidFill>
            <a:srgbClr val="104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89704" y="3785616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0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5513832" y="3712464"/>
            <a:ext cx="1024128" cy="658368"/>
          </a:xfrm>
          <a:prstGeom prst="rect">
            <a:avLst/>
          </a:prstGeom>
          <a:solidFill>
            <a:srgbClr val="4A4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13832" y="3785616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E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6995160" y="1078992"/>
            <a:ext cx="1783080" cy="594360"/>
          </a:xfrm>
          <a:prstGeom prst="rect">
            <a:avLst/>
          </a:prstGeom>
          <a:solidFill>
            <a:srgbClr val="5C1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95160" y="10789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15–25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995160" y="1828800"/>
            <a:ext cx="1783080" cy="594360"/>
          </a:xfrm>
          <a:prstGeom prst="rect">
            <a:avLst/>
          </a:prstGeom>
          <a:solidFill>
            <a:srgbClr val="5C32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95160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10–14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995160" y="2578608"/>
            <a:ext cx="1783080" cy="594360"/>
          </a:xfrm>
          <a:prstGeom prst="rect">
            <a:avLst/>
          </a:prstGeom>
          <a:solidFill>
            <a:srgbClr val="4A401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95160" y="25786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E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5–9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995160" y="3328416"/>
            <a:ext cx="1783080" cy="594360"/>
          </a:xfrm>
          <a:prstGeom prst="rect">
            <a:avLst/>
          </a:prstGeom>
          <a:solidFill>
            <a:srgbClr val="104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95160" y="332841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0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1–4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CONTROLS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layered defenses bring R-101 from CRITICAL to LOW: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33832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393192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1 — TECHNICAL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93392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7432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GPO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Auto-Lock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3456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730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automatically locks its screen after 3 minutes of no activity — enforced by IT policy across all devices.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1234440"/>
            <a:ext cx="3931920" cy="33832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234440"/>
            <a:ext cx="3931920" cy="594360"/>
          </a:xfrm>
          <a:prstGeom prst="rect">
            <a:avLst/>
          </a:prstGeom>
          <a:solidFill>
            <a:srgbClr val="0A5C60"/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1234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2 — PHYSICAL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93392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37760" y="27432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 Privacy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Filter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029200" y="3456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029200" y="3730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film on the monitor makes the screen look dark from the side — only readable when you're looking straight at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ENTRY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Register is the official logbook where all risks are tracked. Here is R-101's final entry: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7315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1234440"/>
            <a:ext cx="219456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11887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Risk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246888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Applied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1234440"/>
            <a:ext cx="11430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2344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92440" y="1234440"/>
            <a:ext cx="86868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2344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645920"/>
            <a:ext cx="731520" cy="685800"/>
          </a:xfrm>
          <a:prstGeom prst="rect">
            <a:avLst/>
          </a:prstGeom>
          <a:solidFill>
            <a:srgbClr val="EEF7F8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6459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R-101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" y="1645920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1645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WOW cart exposes ePHI in hospital hallway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1645920"/>
            <a:ext cx="1188720" cy="685800"/>
          </a:xfrm>
          <a:prstGeom prst="rect">
            <a:avLst/>
          </a:prstGeom>
          <a:solidFill>
            <a:srgbClr val="FDECEA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645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(Score: 16)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1645920"/>
            <a:ext cx="24688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1645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3-Min GPO Screen Lock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3M Privacy Screen Filter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1645920"/>
            <a:ext cx="1143000" cy="685800"/>
          </a:xfrm>
          <a:prstGeom prst="rect">
            <a:avLst/>
          </a:prstGeom>
          <a:solidFill>
            <a:srgbClr val="E6F4ED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164592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(Acceptable)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92440" y="1645920"/>
            <a:ext cx="868680" cy="685800"/>
          </a:xfrm>
          <a:prstGeom prst="rect">
            <a:avLst/>
          </a:prstGeom>
          <a:solidFill>
            <a:srgbClr val="E6F4ED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6459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468880"/>
            <a:ext cx="2560320" cy="128016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2514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6576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63240" y="2971800"/>
            <a:ext cx="731520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318211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931920" y="2468880"/>
            <a:ext cx="2560320" cy="1280160"/>
          </a:xfrm>
          <a:prstGeom prst="rect">
            <a:avLst/>
          </a:prstGeom>
          <a:solidFill>
            <a:srgbClr val="E6F4ED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931920" y="2514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3192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393192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75120" y="2468880"/>
            <a:ext cx="2103120" cy="12801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72084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Residual Risk?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20840" y="28529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leftover risk that remains even after controls are applied. LOW = acceptable.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Demonstrated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GRC Analyst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6968" y="1901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asset — WOW carts with live patient data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8716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6968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threat — unattended cart exposing ePHI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54096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6968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the risk — 4 × 4 = 16, rated CRITICAL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2102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86968" y="36027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controls — GPO lock + privacy screen filter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87952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6968" y="4169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R-101 — reduced from CRITICAL to LOW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5669280" y="685800"/>
            <a:ext cx="3108960" cy="4160520"/>
          </a:xfrm>
          <a:prstGeom prst="rect">
            <a:avLst/>
          </a:prstGeom>
          <a:solidFill>
            <a:srgbClr val="0A3A50"/>
          </a:solidFill>
          <a:ln w="63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5669280" y="804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5760720" y="1188720"/>
            <a:ext cx="2926080" cy="566928"/>
          </a:xfrm>
          <a:prstGeom prst="rect">
            <a:avLst/>
          </a:prstGeom>
          <a:solidFill>
            <a:srgbClr val="0D5C75">
              <a:alpha val="60000"/>
            </a:srgbClr>
          </a:solidFill>
          <a:ln w="6350">
            <a:solidFill>
              <a:srgbClr val="1A5A78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833872" y="12252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5833872" y="1463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nursing computer cart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5760720" y="1847088"/>
            <a:ext cx="2926080" cy="566928"/>
          </a:xfrm>
          <a:prstGeom prst="rect">
            <a:avLst/>
          </a:prstGeom>
          <a:solidFill>
            <a:srgbClr val="0D5C75">
              <a:alpha val="60000"/>
            </a:srgbClr>
          </a:solidFill>
          <a:ln w="6350">
            <a:solidFill>
              <a:srgbClr val="1A5A7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833872" y="1883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ePHI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5833872" y="2121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electronic patient data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5760720" y="2505456"/>
            <a:ext cx="2926080" cy="566928"/>
          </a:xfrm>
          <a:prstGeom prst="rect">
            <a:avLst/>
          </a:prstGeom>
          <a:solidFill>
            <a:srgbClr val="0D5C75">
              <a:alpha val="60000"/>
            </a:srgbClr>
          </a:solidFill>
          <a:ln w="6350">
            <a:solidFill>
              <a:srgbClr val="1A5A7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833872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5833872" y="27797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law protecting patient data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760720" y="3163824"/>
            <a:ext cx="2926080" cy="566928"/>
          </a:xfrm>
          <a:prstGeom prst="rect">
            <a:avLst/>
          </a:prstGeom>
          <a:solidFill>
            <a:srgbClr val="0D5C75">
              <a:alpha val="60000"/>
            </a:srgbClr>
          </a:solidFill>
          <a:ln w="6350">
            <a:solidFill>
              <a:srgbClr val="1A5A7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833872" y="3200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833872" y="34381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policy pushed to all devices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760720" y="3822192"/>
            <a:ext cx="2926080" cy="566928"/>
          </a:xfrm>
          <a:prstGeom prst="rect">
            <a:avLst/>
          </a:prstGeom>
          <a:solidFill>
            <a:srgbClr val="0D5C75">
              <a:alpha val="60000"/>
            </a:srgbClr>
          </a:solidFill>
          <a:ln w="6350">
            <a:solidFill>
              <a:srgbClr val="1A5A7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833872" y="3858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833872" y="4096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left after controls applied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GRC Portfolio – Medical Cart Security Evaluation</dc:title>
  <dc:subject>PptxGenJS Presentation</dc:subject>
  <dc:creator>PptxGenJS</dc:creator>
  <cp:lastModifiedBy>PptxGenJS</cp:lastModifiedBy>
  <cp:revision>1</cp:revision>
  <dcterms:created xsi:type="dcterms:W3CDTF">2026-05-31T14:14:18Z</dcterms:created>
  <dcterms:modified xsi:type="dcterms:W3CDTF">2026-05-31T14:14:18Z</dcterms:modified>
</cp:coreProperties>
</file>